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57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Koyu Sti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Orta Stil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476768-DD41-43DB-551C-966C7B29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CEC7A96-9E8A-8B70-579C-9A4F92B7C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9ABA5FB-7FA6-C16D-ECED-5121427D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264A46D-AAA9-12AC-EF16-140355F2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4DE6867-7469-0861-424B-98F5AC3EE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174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F858CA-F279-5937-BCBE-BF8F98647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6D7A06-4221-38CB-D7DD-498F7817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1CE077F-4C18-220B-A8DB-5A4ABE75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E13698D-0991-782B-07F8-2A04A69E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914399E-1B03-8D47-D6C2-EFB6FCD7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625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335FF9-5101-04A2-48B1-686C8347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9CCF54B-8D9E-742A-15E6-077658689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B957887-9B3B-1881-FE6C-231D4712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3763CD6-9361-A682-3862-D268F98B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E1D1315-3A6B-53A0-AF69-F91AF8616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2482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5AA28C-7982-2416-7BBD-A8DDD4D5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CE8393-4C68-F2B1-DE69-1AFE9FE31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0DEE7E2-10A4-732E-288B-8AF86925B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0B8EC7C-23C9-EE03-449B-CB22343F8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A7CF6D8-E42F-CAED-6E93-62C114F5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4742C38-D8AA-C03A-9017-8F9802F8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945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572253-BC86-A7E3-F925-904EE059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AD87DE2-5B3A-6DC1-22A3-90B0D0882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457EFF7-34A0-ABD6-A91A-1B53E0691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AADDA4D-A480-0BB1-AB2F-E00F4263C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250E551-5A92-982E-922D-1CFEC7A55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E362111-7FD9-9479-F350-D9E63111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44AD61A-B465-658E-1EBA-3D27F5DC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366018D-1B4A-A4D8-8508-38D0E938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67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606C65-1DBA-C765-704C-681275517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0A917F1-547C-842B-289F-0AC611A9C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8D5043A-6AAA-8745-EF05-59737302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637E848-F239-CEEE-FB2F-D66B2FF8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8855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9D1DE75-AC84-29F9-3A6F-6E488D05A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0AFC216-7312-DF7A-A0CF-5D705867D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80C6EED-2A67-034C-8DD4-412235B0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405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3C1DDC-A0FC-CA34-87C4-CF8C1A29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74E75F-1DDC-7BE0-48E3-56BEA5541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9777759-525F-2F1E-F2B2-92D8F149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40D320D-3D6C-5A2D-AB7E-BBE6725F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C0D464D-682D-6D8C-B969-069E1B07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57B085B-60EC-ADE6-7FF3-3E15D49C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81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18981E-6399-9B20-D1EE-17B078B6D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2463116-FDEA-7C9E-96B8-14B99BF66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67EDDCF-AE80-EA6C-63E5-9D70BD15C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357E383-93C7-6135-1ABF-9176393F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B09A810-CC41-BBE8-4D2B-E328FD4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64B0E02-2E5B-EEDF-92D6-77BD1C7B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837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BA5608-B0A0-57B8-591F-26F518D1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AD480C5-9EF0-17B0-4792-CD224FA65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3809E1B-11C7-0676-7C34-68C0C978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E46AD4-B25A-8134-4DBF-1A54C10A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6592BC-51FF-2D77-7EC6-CA3DF1B7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284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2EA93EC-4589-6AF5-4C06-16700672E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A5A2700-C756-6E65-FD0F-DFBB6A960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779DB3A-0C60-CF14-32BF-9B5F955A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05FC6E0-BD93-E14D-1861-109F8B5E3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5D9B33-85B2-22A9-105E-00886A9B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977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49DA841-D62A-96DF-C277-41934811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B7EB97B-8361-A1CD-0AB1-BEFE3AA55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6AD197-787B-E6A5-1382-F1222F2AA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1770E-1C33-47BE-B391-589F95FECA1E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B349BE-4CE3-FD28-2501-5D48D08D4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F114616-114B-83A1-C4ED-F74523AB5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8FC6E-BA67-48A0-839B-C4CBD05B853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514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B14433-EF10-4A73-CBA5-65813ED1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85737B77-7593-1ABC-3542-94464C071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20C6380C-05C5-2360-E570-9321569A2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76450" cy="6858000"/>
          </a:xfrm>
          <a:prstGeom prst="rect">
            <a:avLst/>
          </a:prstGeom>
        </p:spPr>
      </p:pic>
      <p:pic>
        <p:nvPicPr>
          <p:cNvPr id="14" name="İçerik Yer Tutucusu 13">
            <a:extLst>
              <a:ext uri="{FF2B5EF4-FFF2-40B4-BE49-F238E27FC236}">
                <a16:creationId xmlns:a16="http://schemas.microsoft.com/office/drawing/2014/main" id="{691528D0-F0EC-33D2-61A6-AEBD6E256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66" y="0"/>
            <a:ext cx="10286999" cy="6858000"/>
          </a:xfrm>
        </p:spPr>
      </p:pic>
    </p:spTree>
    <p:extLst>
      <p:ext uri="{BB962C8B-B14F-4D97-AF65-F5344CB8AC3E}">
        <p14:creationId xmlns:p14="http://schemas.microsoft.com/office/powerpoint/2010/main" val="1710518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21F75ACE-06C2-4F68-FFE4-DCBE554B7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0DDE61BF-E44F-5F6D-0DBC-025B27A54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EA09E7A4-2CB0-D1C5-ABEF-D1197BE1C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 </a:t>
            </a:r>
            <a:r>
              <a:rPr lang="en-US" b="1" dirty="0" err="1"/>
              <a:t>Akışı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E30912-E51E-0048-65FD-DFADCAB35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4869" cy="4351338"/>
          </a:xfrm>
        </p:spPr>
        <p:txBody>
          <a:bodyPr>
            <a:normAutofit/>
          </a:bodyPr>
          <a:lstStyle/>
          <a:p>
            <a:pPr algn="l"/>
            <a:r>
              <a:rPr lang="tr-TR" sz="2400" b="1" i="0" u="none" strike="noStrike" baseline="0" dirty="0">
                <a:solidFill>
                  <a:srgbClr val="000000"/>
                </a:solidFill>
                <a:latin typeface="+mj-lt"/>
              </a:rPr>
              <a:t>05.02.2026 Perşembe </a:t>
            </a:r>
            <a:endParaRPr lang="tr-TR" sz="24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lvl="1"/>
            <a:r>
              <a:rPr lang="tr-TR" sz="1800" b="0" i="0" u="none" strike="noStrike" baseline="0" dirty="0">
                <a:solidFill>
                  <a:srgbClr val="000000"/>
                </a:solidFill>
                <a:latin typeface="+mj-lt"/>
              </a:rPr>
              <a:t>09.30 – 09.45 / Katılımcı Kayıt </a:t>
            </a:r>
          </a:p>
          <a:p>
            <a:pPr lvl="1"/>
            <a:r>
              <a:rPr lang="tr-TR" sz="1800" b="0" i="0" u="none" strike="noStrike" baseline="0" dirty="0">
                <a:solidFill>
                  <a:srgbClr val="000000"/>
                </a:solidFill>
                <a:latin typeface="+mj-lt"/>
              </a:rPr>
              <a:t>09.45 – 10.00 / Açılış Programı </a:t>
            </a:r>
          </a:p>
          <a:p>
            <a:pPr lvl="1"/>
            <a:r>
              <a:rPr lang="tr-TR" sz="1800" b="0" i="0" u="none" strike="noStrike" baseline="0" dirty="0">
                <a:solidFill>
                  <a:srgbClr val="000000"/>
                </a:solidFill>
                <a:latin typeface="+mj-lt"/>
              </a:rPr>
              <a:t>10.00 – 12.00 / Yarışma </a:t>
            </a:r>
          </a:p>
          <a:p>
            <a:pPr lvl="1"/>
            <a:r>
              <a:rPr lang="tr-TR" sz="1800" b="0" i="0" u="none" strike="noStrike" baseline="0" dirty="0">
                <a:solidFill>
                  <a:srgbClr val="000000"/>
                </a:solidFill>
                <a:latin typeface="+mj-lt"/>
              </a:rPr>
              <a:t>12.00 – 13.00 / Öğle Yemeği </a:t>
            </a:r>
          </a:p>
          <a:p>
            <a:pPr lvl="1"/>
            <a:r>
              <a:rPr lang="tr-TR" sz="1800" b="0" i="0" u="none" strike="noStrike" baseline="0" dirty="0">
                <a:solidFill>
                  <a:srgbClr val="000000"/>
                </a:solidFill>
                <a:latin typeface="+mj-lt"/>
              </a:rPr>
              <a:t>13.00 – 19.00 / Yarışma </a:t>
            </a:r>
          </a:p>
          <a:p>
            <a:pPr lvl="1"/>
            <a:r>
              <a:rPr lang="tr-TR" sz="1800" b="0" i="0" u="none" strike="noStrike" baseline="0" dirty="0">
                <a:solidFill>
                  <a:srgbClr val="000000"/>
                </a:solidFill>
                <a:latin typeface="+mj-lt"/>
              </a:rPr>
              <a:t>19.00 – 20.00 / Akşam yemeği </a:t>
            </a:r>
          </a:p>
          <a:p>
            <a:pPr lvl="1"/>
            <a:r>
              <a:rPr lang="tr-TR" sz="1800" b="0" i="0" u="none" strike="noStrike" baseline="0" dirty="0">
                <a:solidFill>
                  <a:srgbClr val="000000"/>
                </a:solidFill>
                <a:latin typeface="+mj-lt"/>
              </a:rPr>
              <a:t>20.00 – 08.00 / Yarışma </a:t>
            </a:r>
            <a:endParaRPr lang="tr-TR" sz="3200" dirty="0">
              <a:latin typeface="+mj-lt"/>
            </a:endParaRP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9C6659D4-1087-4921-DEC5-9A42595BF722}"/>
              </a:ext>
            </a:extLst>
          </p:cNvPr>
          <p:cNvSpPr txBox="1">
            <a:spLocks/>
          </p:cNvSpPr>
          <p:nvPr/>
        </p:nvSpPr>
        <p:spPr>
          <a:xfrm>
            <a:off x="6101862" y="1819764"/>
            <a:ext cx="500575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400" b="1" dirty="0">
                <a:solidFill>
                  <a:srgbClr val="000000"/>
                </a:solidFill>
                <a:latin typeface="+mj-lt"/>
              </a:rPr>
              <a:t> 06.02.2026 Cuma </a:t>
            </a:r>
          </a:p>
          <a:p>
            <a:pPr lvl="1"/>
            <a:r>
              <a:rPr lang="tr-TR" sz="1800" dirty="0">
                <a:solidFill>
                  <a:srgbClr val="000000"/>
                </a:solidFill>
                <a:latin typeface="+mj-lt"/>
              </a:rPr>
              <a:t>08.00 – 09.00 / Kahvaltı </a:t>
            </a:r>
          </a:p>
          <a:p>
            <a:pPr lvl="1"/>
            <a:r>
              <a:rPr lang="tr-TR" sz="1800" dirty="0">
                <a:solidFill>
                  <a:srgbClr val="000000"/>
                </a:solidFill>
                <a:latin typeface="+mj-lt"/>
              </a:rPr>
              <a:t>09.00 – 12.00 / Yarışma </a:t>
            </a:r>
          </a:p>
          <a:p>
            <a:pPr lvl="1"/>
            <a:r>
              <a:rPr lang="tr-TR" sz="1800" dirty="0">
                <a:solidFill>
                  <a:srgbClr val="000000"/>
                </a:solidFill>
                <a:latin typeface="+mj-lt"/>
              </a:rPr>
              <a:t>12.00 – 13.00 / Öğle Yemeği </a:t>
            </a:r>
          </a:p>
          <a:p>
            <a:pPr lvl="1"/>
            <a:r>
              <a:rPr lang="tr-TR" sz="1800" dirty="0">
                <a:solidFill>
                  <a:srgbClr val="000000"/>
                </a:solidFill>
                <a:latin typeface="+mj-lt"/>
              </a:rPr>
              <a:t>13.00 – 15.00 / Yarışma </a:t>
            </a:r>
          </a:p>
          <a:p>
            <a:pPr lvl="1"/>
            <a:r>
              <a:rPr lang="tr-TR" sz="1800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</a:rPr>
              <a:t>15.00 – 17.00 / Jüri Sunumu </a:t>
            </a:r>
          </a:p>
          <a:p>
            <a:pPr lvl="1"/>
            <a:r>
              <a:rPr lang="tr-TR" sz="1800" dirty="0">
                <a:solidFill>
                  <a:srgbClr val="000000"/>
                </a:solidFill>
                <a:latin typeface="+mj-lt"/>
              </a:rPr>
              <a:t>17.00 – 17.30 / Kapanış </a:t>
            </a:r>
          </a:p>
        </p:txBody>
      </p:sp>
    </p:spTree>
    <p:extLst>
      <p:ext uri="{BB962C8B-B14F-4D97-AF65-F5344CB8AC3E}">
        <p14:creationId xmlns:p14="http://schemas.microsoft.com/office/powerpoint/2010/main" val="183028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2F6E012B-BD41-4BEA-9C2A-F4897F00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98D09BE8-A5F8-9786-607E-DD0B0812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Değerlendirme ve </a:t>
            </a:r>
            <a:r>
              <a:rPr lang="en-US" b="1" dirty="0" err="1"/>
              <a:t>Jüri</a:t>
            </a:r>
            <a:r>
              <a:rPr lang="en-US" b="1" dirty="0"/>
              <a:t> Sunumu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011953B-24FE-B3DC-6D00-AAAFA13CC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72454" cy="4351338"/>
          </a:xfrm>
        </p:spPr>
        <p:txBody>
          <a:bodyPr/>
          <a:lstStyle/>
          <a:p>
            <a:r>
              <a:rPr lang="en-US" dirty="0"/>
              <a:t>Ön Değerlendirme</a:t>
            </a:r>
          </a:p>
          <a:p>
            <a:pPr lvl="1"/>
            <a:r>
              <a:rPr lang="en-US" dirty="0"/>
              <a:t>1 </a:t>
            </a:r>
            <a:r>
              <a:rPr lang="en-US" dirty="0" err="1"/>
              <a:t>dk’lık</a:t>
            </a:r>
            <a:r>
              <a:rPr lang="en-US" dirty="0"/>
              <a:t> proje tanıtım videosu</a:t>
            </a:r>
          </a:p>
          <a:p>
            <a:pPr lvl="1"/>
            <a:r>
              <a:rPr lang="en-US" dirty="0"/>
              <a:t>Tanıtım kartı</a:t>
            </a:r>
          </a:p>
          <a:p>
            <a:r>
              <a:rPr lang="en-US" dirty="0"/>
              <a:t>Final Sunumu (15 Takım)</a:t>
            </a:r>
          </a:p>
          <a:p>
            <a:pPr lvl="1"/>
            <a:r>
              <a:rPr lang="en-US" dirty="0"/>
              <a:t>5 </a:t>
            </a:r>
            <a:r>
              <a:rPr lang="en-US" dirty="0" err="1"/>
              <a:t>dk’lık</a:t>
            </a:r>
            <a:r>
              <a:rPr lang="en-US" dirty="0"/>
              <a:t> proje sunumu</a:t>
            </a:r>
          </a:p>
          <a:p>
            <a:pPr lvl="1"/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4125F30-9830-E203-5F07-7A6E9DBFD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062" y="1960960"/>
            <a:ext cx="5967046" cy="36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9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Resim 13">
            <a:extLst>
              <a:ext uri="{FF2B5EF4-FFF2-40B4-BE49-F238E27FC236}">
                <a16:creationId xmlns:a16="http://schemas.microsoft.com/office/drawing/2014/main" id="{592AE849-809D-1479-CAE8-866A4236D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F9D7BE13-901C-7DCC-441C-1AF9DF2A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Değerlendirme </a:t>
            </a:r>
            <a:r>
              <a:rPr lang="en-US" b="1" dirty="0" err="1"/>
              <a:t>Kriterleri</a:t>
            </a:r>
            <a:endParaRPr lang="tr-TR" b="1" dirty="0"/>
          </a:p>
        </p:txBody>
      </p:sp>
      <p:graphicFrame>
        <p:nvGraphicFramePr>
          <p:cNvPr id="13" name="Tablo 12">
            <a:extLst>
              <a:ext uri="{FF2B5EF4-FFF2-40B4-BE49-F238E27FC236}">
                <a16:creationId xmlns:a16="http://schemas.microsoft.com/office/drawing/2014/main" id="{875BA571-3B16-364C-E29F-1E5FE36A4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90372"/>
              </p:ext>
            </p:extLst>
          </p:nvPr>
        </p:nvGraphicFramePr>
        <p:xfrm>
          <a:off x="1567962" y="1780365"/>
          <a:ext cx="9437077" cy="3015425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2854569">
                  <a:extLst>
                    <a:ext uri="{9D8B030D-6E8A-4147-A177-3AD203B41FA5}">
                      <a16:colId xmlns:a16="http://schemas.microsoft.com/office/drawing/2014/main" val="2406487712"/>
                    </a:ext>
                  </a:extLst>
                </a:gridCol>
                <a:gridCol w="4976446">
                  <a:extLst>
                    <a:ext uri="{9D8B030D-6E8A-4147-A177-3AD203B41FA5}">
                      <a16:colId xmlns:a16="http://schemas.microsoft.com/office/drawing/2014/main" val="3354536706"/>
                    </a:ext>
                  </a:extLst>
                </a:gridCol>
                <a:gridCol w="1606062">
                  <a:extLst>
                    <a:ext uri="{9D8B030D-6E8A-4147-A177-3AD203B41FA5}">
                      <a16:colId xmlns:a16="http://schemas.microsoft.com/office/drawing/2014/main" val="2965678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effectLst/>
                          <a:latin typeface="+mj-lt"/>
                        </a:rPr>
                        <a:t>Kategori</a:t>
                      </a:r>
                      <a:endParaRPr lang="en-US" sz="18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Açıklama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Maks. Puan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9526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+mj-lt"/>
                        </a:rPr>
                        <a:t>Teknik </a:t>
                      </a:r>
                      <a:r>
                        <a:rPr lang="en-US" sz="1800" b="1" kern="0" dirty="0" err="1">
                          <a:effectLst/>
                          <a:latin typeface="+mj-lt"/>
                        </a:rPr>
                        <a:t>Yetkinlik</a:t>
                      </a:r>
                      <a:endParaRPr lang="en-US" sz="1800" b="1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+mj-lt"/>
                        </a:rPr>
                        <a:t>Model, veri,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mimari</a:t>
                      </a:r>
                      <a:r>
                        <a:rPr lang="en-US" sz="1800" kern="0" dirty="0">
                          <a:effectLst/>
                          <a:latin typeface="+mj-lt"/>
                        </a:rPr>
                        <a:t>,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performans</a:t>
                      </a:r>
                      <a:r>
                        <a:rPr lang="en-US" sz="1800" kern="0" dirty="0">
                          <a:effectLst/>
                          <a:latin typeface="+mj-lt"/>
                        </a:rPr>
                        <a:t>,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uygulanabilirlik</a:t>
                      </a:r>
                      <a:endParaRPr lang="en-US" sz="18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25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2989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+mj-lt"/>
                        </a:rPr>
                        <a:t>Ürün &amp; Problem </a:t>
                      </a:r>
                      <a:r>
                        <a:rPr lang="en-US" sz="1800" b="1" kern="0" dirty="0" err="1">
                          <a:effectLst/>
                          <a:latin typeface="+mj-lt"/>
                        </a:rPr>
                        <a:t>Uyumu</a:t>
                      </a:r>
                      <a:endParaRPr lang="en-US" sz="1800" b="1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+mj-lt"/>
                        </a:rPr>
                        <a:t>Gerçek problem,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kullanıcı</a:t>
                      </a:r>
                      <a:r>
                        <a:rPr lang="en-US" sz="1800" kern="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ihtiyacı</a:t>
                      </a:r>
                      <a:r>
                        <a:rPr lang="en-US" sz="1800" kern="0" dirty="0">
                          <a:effectLst/>
                          <a:latin typeface="+mj-lt"/>
                        </a:rPr>
                        <a:t>, değer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önerisi</a:t>
                      </a:r>
                      <a:endParaRPr lang="en-US" sz="18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20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2523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dirty="0" err="1">
                          <a:effectLst/>
                          <a:latin typeface="+mj-lt"/>
                        </a:rPr>
                        <a:t>Yenilikçilik</a:t>
                      </a:r>
                      <a:endParaRPr lang="en-US" sz="1800" b="1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 err="1">
                          <a:effectLst/>
                          <a:latin typeface="+mj-lt"/>
                        </a:rPr>
                        <a:t>Orijinallik</a:t>
                      </a:r>
                      <a:r>
                        <a:rPr lang="en-US" sz="1800" kern="0" dirty="0">
                          <a:effectLst/>
                          <a:latin typeface="+mj-lt"/>
                        </a:rPr>
                        <a:t>,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yaratıcılık</a:t>
                      </a:r>
                      <a:r>
                        <a:rPr lang="en-US" sz="1800" kern="0" dirty="0">
                          <a:effectLst/>
                          <a:latin typeface="+mj-lt"/>
                        </a:rPr>
                        <a:t>,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farklılaşma</a:t>
                      </a:r>
                      <a:endParaRPr lang="en-US" sz="18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15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1450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>
                          <a:effectLst/>
                          <a:latin typeface="+mj-lt"/>
                        </a:rPr>
                        <a:t>Ticarileşme Potansiyeli</a:t>
                      </a:r>
                      <a:endParaRPr lang="en-US" sz="1800" b="1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İş modeli, pazar, gelir yapısı, satış kanalı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20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000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dirty="0" err="1">
                          <a:effectLst/>
                          <a:latin typeface="+mj-lt"/>
                        </a:rPr>
                        <a:t>Ölçeklenebilirlik</a:t>
                      </a:r>
                      <a:endParaRPr lang="en-US" sz="1800" b="1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+mj-lt"/>
                        </a:rPr>
                        <a:t>Teknik ve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operasyonel</a:t>
                      </a:r>
                      <a:r>
                        <a:rPr lang="en-US" sz="1800" kern="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büyüme</a:t>
                      </a:r>
                      <a:r>
                        <a:rPr lang="en-US" sz="1800" kern="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800" kern="0" dirty="0" err="1">
                          <a:effectLst/>
                          <a:latin typeface="+mj-lt"/>
                        </a:rPr>
                        <a:t>kapasitesi</a:t>
                      </a:r>
                      <a:endParaRPr lang="en-US" sz="18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10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17563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+mj-lt"/>
                        </a:rPr>
                        <a:t>Sunum &amp; </a:t>
                      </a:r>
                      <a:r>
                        <a:rPr lang="en-US" sz="1800" b="1" kern="0" dirty="0" err="1">
                          <a:effectLst/>
                          <a:latin typeface="+mj-lt"/>
                        </a:rPr>
                        <a:t>İletişim</a:t>
                      </a:r>
                      <a:endParaRPr lang="en-US" sz="1800" b="1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Hikâye, netlik, demo, süre yönetimi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j-lt"/>
                        </a:rPr>
                        <a:t>10</a:t>
                      </a:r>
                      <a:endParaRPr lang="en-US" sz="18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85174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800" kern="100" dirty="0"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+mj-lt"/>
                        </a:rPr>
                        <a:t>100</a:t>
                      </a:r>
                      <a:endParaRPr lang="en-US" sz="18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14496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63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A06CB8CC-F82A-AAF9-A854-F8A7E9A31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1A387CA-0269-F2D8-DE4D-298918E62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76450" cy="685800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1FF30AA2-50ED-CFF6-BEA5-9CA498933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9492" y="0"/>
            <a:ext cx="2102508" cy="6858000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CB4E785C-9F73-CDD6-7CEA-7510F0F4C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102508" cy="685800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E9B1E1D3-703F-9983-7626-ED805893B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912" y="133350"/>
            <a:ext cx="9782175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56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0392DE43-B4A2-1505-D4F4-EB4E1F0B3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2050" name="Picture 2" descr="❓ Red Question Mark Emoji: Meaning &amp; Usage">
            <a:extLst>
              <a:ext uri="{FF2B5EF4-FFF2-40B4-BE49-F238E27FC236}">
                <a16:creationId xmlns:a16="http://schemas.microsoft.com/office/drawing/2014/main" id="{6DA089C2-78CF-57F2-1EED-7B4410449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162" y="1644162"/>
            <a:ext cx="3569676" cy="356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320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173</Words>
  <Application>Microsoft Office PowerPoint</Application>
  <PresentationFormat>Geniş ekran</PresentationFormat>
  <Paragraphs>45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Teması</vt:lpstr>
      <vt:lpstr>PowerPoint Sunusu</vt:lpstr>
      <vt:lpstr>Program Akışı</vt:lpstr>
      <vt:lpstr>Değerlendirme ve Jüri Sunumu</vt:lpstr>
      <vt:lpstr>Değerlendirme Kriterleri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kaan can yılmaz</dc:creator>
  <cp:lastModifiedBy>kaan can yılmaz</cp:lastModifiedBy>
  <cp:revision>24</cp:revision>
  <dcterms:created xsi:type="dcterms:W3CDTF">2026-02-04T19:27:27Z</dcterms:created>
  <dcterms:modified xsi:type="dcterms:W3CDTF">2026-02-04T20:51:40Z</dcterms:modified>
</cp:coreProperties>
</file>